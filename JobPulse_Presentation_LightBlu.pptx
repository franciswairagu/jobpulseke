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32E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DevOps</c:v>
                </c:pt>
                <c:pt idx="1">
                  <c:v>Web Fwk</c:v>
                </c:pt>
                <c:pt idx="2">
                  <c:v>Cloud</c:v>
                </c:pt>
                <c:pt idx="3">
                  <c:v>AI/ML</c:v>
                </c:pt>
                <c:pt idx="4">
                  <c:v>Frontend</c:v>
                </c:pt>
                <c:pt idx="5">
                  <c:v>Prog. Lang</c:v>
                </c:pt>
                <c:pt idx="6">
                  <c:v>Architecture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0.93</c:v>
                </c:pt>
                <c:pt idx="6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99-4884-BA0F-097A7C6927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6232E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Skill Matcher (Match Acc.)</c:v>
                </c:pt>
                <c:pt idx="1">
                  <c:v>Skill Normalizer (Acc.)</c:v>
                </c:pt>
                <c:pt idx="2">
                  <c:v>Job Recommender (Top-1 Acc.)</c:v>
                </c:pt>
                <c:pt idx="3">
                  <c:v>Work Mode (Acc.)</c:v>
                </c:pt>
                <c:pt idx="4">
                  <c:v>RAG Retrieval (MRR)</c:v>
                </c:pt>
                <c:pt idx="5">
                  <c:v>Seniority (Acc.)</c:v>
                </c:pt>
                <c:pt idx="6">
                  <c:v>Skill Extractor (F1)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0.89400000000000002</c:v>
                </c:pt>
                <c:pt idx="5">
                  <c:v>0.97</c:v>
                </c:pt>
                <c:pt idx="6">
                  <c:v>0.97499999999999998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E9-464C-B6DC-9B1E88BD78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548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9DFF2"/>
          </a:solidFill>
          <a:ln w="12700">
            <a:solidFill>
              <a:srgbClr val="C9D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1645920"/>
            <a:ext cx="1371600" cy="13716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19751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· TECH · JOBS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pipeline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sources · 13,300+ postings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63440" y="21488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JobPulse</a:t>
            </a:r>
            <a:endParaRPr lang="en-US" sz="6000" dirty="0"/>
          </a:p>
        </p:txBody>
      </p:sp>
      <p:sp>
        <p:nvSpPr>
          <p:cNvPr id="9" name="Shape 6"/>
          <p:cNvSpPr/>
          <p:nvPr/>
        </p:nvSpPr>
        <p:spPr>
          <a:xfrm>
            <a:off x="4709160" y="3246120"/>
            <a:ext cx="1554480" cy="54864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34290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D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Tech Job Market Intelligence Platform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663440" y="41605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engineering &amp; AI systems project — collecting, cleaning, and analyzing tech job postings across African markets to power market intelligence, career insights, and AI-assisted job discovery.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6634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9DFF2"/>
          </a:solidFill>
          <a:ln w="12700">
            <a:solidFill>
              <a:srgbClr val="C9D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1645920"/>
            <a:ext cx="1371600" cy="13716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19751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· TECH · JOBS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dirty="0">
                <a:solidFill>
                  <a:srgbClr val="33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pipeline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kern="0" dirty="0">
                <a:solidFill>
                  <a:srgbClr val="33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sources · 13,300+ postings</a:t>
            </a:r>
            <a:endParaRPr lang="en-US" sz="1200" dirty="0"/>
          </a:p>
        </p:txBody>
      </p:sp>
      <p:sp>
        <p:nvSpPr>
          <p:cNvPr id="8" name="Text 8"/>
          <p:cNvSpPr/>
          <p:nvPr/>
        </p:nvSpPr>
        <p:spPr>
          <a:xfrm>
            <a:off x="4663440" y="548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IN ONE STORY</a:t>
            </a:r>
            <a:endParaRPr lang="en-US" sz="1200" dirty="0"/>
          </a:p>
        </p:txBody>
      </p:sp>
      <p:sp>
        <p:nvSpPr>
          <p:cNvPr id="9" name="Text 9"/>
          <p:cNvSpPr/>
          <p:nvPr/>
        </p:nvSpPr>
        <p:spPr>
          <a:xfrm>
            <a:off x="4663440" y="9144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She's applied to forty jobs</a:t>
            </a:r>
            <a:endParaRPr lang="en-US" sz="2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three months.</a:t>
            </a:r>
            <a:endParaRPr lang="en-US" sz="2800" dirty="0"/>
          </a:p>
        </p:txBody>
      </p:sp>
      <p:sp>
        <p:nvSpPr>
          <p:cNvPr id="10" name="Text 10"/>
          <p:cNvSpPr/>
          <p:nvPr/>
        </p:nvSpPr>
        <p:spPr>
          <a:xfrm>
            <a:off x="4663440" y="224028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50" kern="0" dirty="0">
                <a:solidFill>
                  <a:srgbClr val="33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computer science graduate in Nairobi. She spends an evening tailoring her CV for one role — only to learn, two weeks later, that it was filled before she even applied. The listing was still live. Nobody took it down.</a:t>
            </a:r>
            <a:endParaRPr lang="en-US" sz="13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kern="0" dirty="0">
                <a:solidFill>
                  <a:srgbClr val="33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she doesn't hear back at all, she has no idea why. Is it one missing skill? Three? Nobody tells her, specifically, what stands between her and the next interview.</a:t>
            </a:r>
            <a:endParaRPr lang="en-US" sz="1350" dirty="0"/>
          </a:p>
        </p:txBody>
      </p:sp>
      <p:sp>
        <p:nvSpPr>
          <p:cNvPr id="11" name="Text 11"/>
          <p:cNvSpPr/>
          <p:nvPr/>
        </p:nvSpPr>
        <p:spPr>
          <a:xfrm>
            <a:off x="4663440" y="45262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i="1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between applying and understanding why — that's the problem this project is built to close.</a:t>
            </a:r>
            <a:endParaRPr lang="en-US" sz="1500" dirty="0"/>
          </a:p>
        </p:txBody>
      </p:sp>
      <p:sp>
        <p:nvSpPr>
          <p:cNvPr id="12" name="Text 1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  <p:sp>
        <p:nvSpPr>
          <p:cNvPr id="13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NOT INVENTION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gap was already proven — once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035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weren't the first to notice this</a:t>
            </a:r>
            <a:endParaRPr lang="en-US" sz="1350" dirty="0"/>
          </a:p>
          <a:p>
            <a:pPr marL="0" indent="0" algn="l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2019, the World Bank partnered with Finnish AI company Headai to crawl postings from three Kenyan job boards and compare skill-demand signal against university computer science curricula.</a:t>
            </a:r>
            <a:endParaRPr lang="en-US" sz="13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50" b="1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worked — then it stopped</a:t>
            </a:r>
            <a:endParaRPr lang="en-US" sz="1350" dirty="0"/>
          </a:p>
          <a:p>
            <a:pPr marL="0" indent="0" algn="l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surfaced a real skills-versus-curriculum gap. But it was a two-month pilot on a fixed 2015-to-2019 dataset, never repeated, never kept current.</a:t>
            </a:r>
            <a:endParaRPr lang="en-US" sz="13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50" b="1" kern="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it left behind</a:t>
            </a:r>
            <a:endParaRPr lang="en-US" sz="13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5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was validated. Nobody had turned it into something continuous and queryable — until now.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040880" y="1463040"/>
            <a:ext cx="4572000" cy="4846320"/>
          </a:xfrm>
          <a:prstGeom prst="roundRect">
            <a:avLst>
              <a:gd name="adj" fmla="val 2000"/>
            </a:avLst>
          </a:prstGeom>
          <a:solidFill>
            <a:srgbClr val="0F2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783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kern="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498080" y="2606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D8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× Headai pilot in Kenya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3337560"/>
            <a:ext cx="3474720" cy="0"/>
          </a:xfrm>
          <a:prstGeom prst="line">
            <a:avLst/>
          </a:prstGeom>
          <a:noFill/>
          <a:ln w="12700">
            <a:solidFill>
              <a:srgbClr val="2A42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3520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498080" y="4160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D8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crawled across 3 job boards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4892040"/>
            <a:ext cx="3474720" cy="0"/>
          </a:xfrm>
          <a:prstGeom prst="line">
            <a:avLst/>
          </a:prstGeom>
          <a:noFill/>
          <a:ln w="12700">
            <a:solidFill>
              <a:srgbClr val="2A42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5074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498080" y="5623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D8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— then the pilot went quiet</a:t>
            </a:r>
            <a:endParaRPr lang="en-US" sz="1200" dirty="0"/>
          </a:p>
        </p:txBody>
      </p:sp>
      <p:sp>
        <p:nvSpPr>
          <p:cNvPr id="15" name="Text 1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  <p:sp>
        <p:nvSpPr>
          <p:cNvPr id="16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the gap JobPulse is scoped to close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from real scraped job data, not sanitized samples, and layers four things on top.</a:t>
            </a:r>
            <a:endParaRPr lang="en-US" sz="1300" dirty="0"/>
          </a:p>
        </p:txBody>
      </p:sp>
      <p:sp>
        <p:nvSpPr>
          <p:cNvPr id="6" name="Shape 6"/>
          <p:cNvSpPr/>
          <p:nvPr/>
        </p:nvSpPr>
        <p:spPr>
          <a:xfrm>
            <a:off x="548640" y="17373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1463040" y="2034540"/>
            <a:ext cx="777240" cy="7772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2235708"/>
            <a:ext cx="374904" cy="374904"/>
          </a:xfrm>
          <a:prstGeom prst="rect">
            <a:avLst/>
          </a:prstGeom>
        </p:spPr>
      </p:pic>
      <p:sp>
        <p:nvSpPr>
          <p:cNvPr id="9" name="Text 9"/>
          <p:cNvSpPr/>
          <p:nvPr/>
        </p:nvSpPr>
        <p:spPr>
          <a:xfrm>
            <a:off x="73152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kern="0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Analyzer</a:t>
            </a:r>
            <a:endParaRPr lang="en-US" sz="1450" dirty="0"/>
          </a:p>
        </p:txBody>
      </p:sp>
      <p:sp>
        <p:nvSpPr>
          <p:cNvPr id="10" name="Text 10"/>
          <p:cNvSpPr/>
          <p:nvPr/>
        </p:nvSpPr>
        <p:spPr>
          <a:xfrm>
            <a:off x="777240" y="3474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exactly what skills you have — and exactly what's missing.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3410712" y="17373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4325112" y="2034540"/>
            <a:ext cx="777240" cy="7772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3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235708"/>
            <a:ext cx="374904" cy="374904"/>
          </a:xfrm>
          <a:prstGeom prst="rect">
            <a:avLst/>
          </a:prstGeom>
        </p:spPr>
      </p:pic>
      <p:sp>
        <p:nvSpPr>
          <p:cNvPr id="14" name="Text 14"/>
          <p:cNvSpPr/>
          <p:nvPr/>
        </p:nvSpPr>
        <p:spPr>
          <a:xfrm>
            <a:off x="3593592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kern="0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</a:t>
            </a:r>
            <a:endParaRPr lang="en-US" sz="1450" dirty="0"/>
          </a:p>
        </p:txBody>
      </p:sp>
      <p:sp>
        <p:nvSpPr>
          <p:cNvPr id="15" name="Text 15"/>
          <p:cNvSpPr/>
          <p:nvPr/>
        </p:nvSpPr>
        <p:spPr>
          <a:xfrm>
            <a:off x="3639312" y="3474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you to real open roles and the courses that close your gaps.</a:t>
            </a:r>
            <a:endParaRPr lang="en-US" sz="1100" dirty="0"/>
          </a:p>
        </p:txBody>
      </p:sp>
      <p:sp>
        <p:nvSpPr>
          <p:cNvPr id="16" name="Shape 16"/>
          <p:cNvSpPr/>
          <p:nvPr/>
        </p:nvSpPr>
        <p:spPr>
          <a:xfrm>
            <a:off x="6272784" y="17373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17" name="Shape 17"/>
          <p:cNvSpPr/>
          <p:nvPr/>
        </p:nvSpPr>
        <p:spPr>
          <a:xfrm>
            <a:off x="7187184" y="2034540"/>
            <a:ext cx="777240" cy="7772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8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2235708"/>
            <a:ext cx="374904" cy="374904"/>
          </a:xfrm>
          <a:prstGeom prst="rect">
            <a:avLst/>
          </a:prstGeom>
        </p:spPr>
      </p:pic>
      <p:sp>
        <p:nvSpPr>
          <p:cNvPr id="19" name="Text 19"/>
          <p:cNvSpPr/>
          <p:nvPr/>
        </p:nvSpPr>
        <p:spPr>
          <a:xfrm>
            <a:off x="6455664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kern="0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Tracking</a:t>
            </a:r>
            <a:endParaRPr lang="en-US" sz="1450" dirty="0"/>
          </a:p>
        </p:txBody>
      </p:sp>
      <p:sp>
        <p:nvSpPr>
          <p:cNvPr id="20" name="Text 20"/>
          <p:cNvSpPr/>
          <p:nvPr/>
        </p:nvSpPr>
        <p:spPr>
          <a:xfrm>
            <a:off x="6501384" y="3474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difference between a job that's open, expired, or already filled.</a:t>
            </a:r>
            <a:endParaRPr lang="en-US" sz="1100" dirty="0"/>
          </a:p>
        </p:txBody>
      </p:sp>
      <p:sp>
        <p:nvSpPr>
          <p:cNvPr id="21" name="Shape 21"/>
          <p:cNvSpPr/>
          <p:nvPr/>
        </p:nvSpPr>
        <p:spPr>
          <a:xfrm>
            <a:off x="9134856" y="17373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22" name="Shape 22"/>
          <p:cNvSpPr/>
          <p:nvPr/>
        </p:nvSpPr>
        <p:spPr>
          <a:xfrm>
            <a:off x="10049256" y="2034540"/>
            <a:ext cx="777240" cy="7772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23" name="Image 2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0424" y="2235708"/>
            <a:ext cx="374904" cy="374904"/>
          </a:xfrm>
          <a:prstGeom prst="rect">
            <a:avLst/>
          </a:prstGeom>
        </p:spPr>
      </p:pic>
      <p:sp>
        <p:nvSpPr>
          <p:cNvPr id="24" name="Text 24"/>
          <p:cNvSpPr/>
          <p:nvPr/>
        </p:nvSpPr>
        <p:spPr>
          <a:xfrm>
            <a:off x="9317736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kern="0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</a:t>
            </a:r>
            <a:endParaRPr lang="en-US" sz="1450" dirty="0"/>
          </a:p>
        </p:txBody>
      </p:sp>
      <p:sp>
        <p:nvSpPr>
          <p:cNvPr id="25" name="Text 25"/>
          <p:cNvSpPr/>
          <p:nvPr/>
        </p:nvSpPr>
        <p:spPr>
          <a:xfrm>
            <a:off x="9363456" y="3474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anything about your results — it points you to real places to practice.</a:t>
            </a:r>
            <a:endParaRPr lang="en-US" sz="1100" dirty="0"/>
          </a:p>
        </p:txBody>
      </p:sp>
      <p:sp>
        <p:nvSpPr>
          <p:cNvPr id="26" name="Text 26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  <p:sp>
        <p:nvSpPr>
          <p:cNvPr id="27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WE'RE PROUDEST 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fake the forecast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kern="0" dirty="0">
                <a:solidFill>
                  <a:srgbClr val="33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Partway through, we found out our own data couldn't reliably predict which jobs would still be open next week. The easy move would've been to fake it — build a flashy forecasting model anyway. We didn't.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1094415" cy="1188720"/>
          </a:xfrm>
          <a:prstGeom prst="roundRect">
            <a:avLst>
              <a:gd name="adj" fmla="val 1500"/>
            </a:avLst>
          </a:prstGeom>
          <a:solidFill>
            <a:srgbClr val="C9DFF2"/>
          </a:solidFill>
          <a:ln w="12700">
            <a:solidFill>
              <a:srgbClr val="A9CB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4320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b="1" kern="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audited our own data, published exactly what we could and couldn't trust, and built honest status tracking instead of a guess dressed up as science.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200" b="1" kern="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in this system is labeled for what it actually is.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kern="0" dirty="0">
                <a:solidFill>
                  <a:srgbClr val="33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market full of AI that overpromises, telling people exactly what we know — and what we don't — isn't a weakness. It's the whole point.</a:t>
            </a:r>
            <a:endParaRPr lang="en-US" sz="1350" dirty="0"/>
          </a:p>
        </p:txBody>
      </p:sp>
      <p:sp>
        <p:nvSpPr>
          <p:cNvPr id="10" name="Text 1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  <p:sp>
        <p:nvSpPr>
          <p:cNvPr id="11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C9DF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613916"/>
            <a:ext cx="566928" cy="56692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602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Frontend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18653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app: Dashboard, CV Analyzer, Job Market, Market &amp; Skills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17520" y="2331720"/>
            <a:ext cx="0" cy="41148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278892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C9DFF2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" y="2939796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861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417320" y="31912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CV pipeline, recommendations, jobs, dashboard aggregation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828800" y="3657600"/>
            <a:ext cx="0" cy="36576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206240" y="3657600"/>
            <a:ext cx="0" cy="36576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48640" y="406908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C9DF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68096" y="4219956"/>
            <a:ext cx="566928" cy="56692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662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4160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417320" y="447141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resumes · jobs · skills · recommendations · model predictions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063240" y="406908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C9DFF2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282696" y="4219956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436626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931920" y="4160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+ Celery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3931920" y="447141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CV analysis, job ingestion, stale-job sweep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035040" y="1463040"/>
            <a:ext cx="5605272" cy="868680"/>
          </a:xfrm>
          <a:prstGeom prst="roundRect">
            <a:avLst>
              <a:gd name="adj" fmla="val 8421"/>
            </a:avLst>
          </a:prstGeom>
          <a:solidFill>
            <a:srgbClr val="C9DFF2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254496" y="1613916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76022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03720" y="155448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Adapter Layer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6903720" y="1865376"/>
            <a:ext cx="4599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app/ml/adapters — swappable interfaces registered at startup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035040" y="2514600"/>
            <a:ext cx="5605272" cy="777240"/>
          </a:xfrm>
          <a:prstGeom prst="roundRect">
            <a:avLst>
              <a:gd name="adj" fmla="val 9412"/>
            </a:avLst>
          </a:prstGeom>
          <a:solidFill>
            <a:srgbClr val="C9DF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254496" y="2619756"/>
            <a:ext cx="566928" cy="56692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7660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903720" y="260604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Analyzer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6903720" y="2916936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skill &amp; metadata extraction + optional trained classifier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035040" y="3474720"/>
            <a:ext cx="5605272" cy="777240"/>
          </a:xfrm>
          <a:prstGeom prst="roundRect">
            <a:avLst>
              <a:gd name="adj" fmla="val 9412"/>
            </a:avLst>
          </a:prstGeom>
          <a:solidFill>
            <a:srgbClr val="C9DF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254496" y="3579876"/>
            <a:ext cx="566928" cy="56692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3726180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903720" y="356616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Recommender</a:t>
            </a:r>
            <a:endParaRPr lang="en-US" sz="1350" dirty="0"/>
          </a:p>
        </p:txBody>
      </p:sp>
      <p:sp>
        <p:nvSpPr>
          <p:cNvPr id="42" name="Text 33"/>
          <p:cNvSpPr/>
          <p:nvPr/>
        </p:nvSpPr>
        <p:spPr>
          <a:xfrm>
            <a:off x="6903720" y="3877056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hybrid scorer — skills, experience, location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6035040" y="4434840"/>
            <a:ext cx="5605272" cy="777240"/>
          </a:xfrm>
          <a:prstGeom prst="roundRect">
            <a:avLst>
              <a:gd name="adj" fmla="val 9412"/>
            </a:avLst>
          </a:prstGeom>
          <a:solidFill>
            <a:srgbClr val="C9DFF2"/>
          </a:solidFill>
          <a:ln w="1905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44" name="Shape 35"/>
          <p:cNvSpPr/>
          <p:nvPr/>
        </p:nvSpPr>
        <p:spPr>
          <a:xfrm>
            <a:off x="6254496" y="4539996"/>
            <a:ext cx="566928" cy="56692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686300"/>
            <a:ext cx="274320" cy="27432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903720" y="452628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Assistant</a:t>
            </a:r>
            <a:endParaRPr lang="en-US" sz="1350" dirty="0"/>
          </a:p>
        </p:txBody>
      </p:sp>
      <p:sp>
        <p:nvSpPr>
          <p:cNvPr id="47" name="Text 37"/>
          <p:cNvSpPr/>
          <p:nvPr/>
        </p:nvSpPr>
        <p:spPr>
          <a:xfrm>
            <a:off x="6903720" y="4837176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vector retrieval grounded in enriched job data + a local LLM</a:t>
            </a:r>
            <a:endParaRPr lang="en-US" sz="1000" dirty="0"/>
          </a:p>
        </p:txBody>
      </p:sp>
      <p:sp>
        <p:nvSpPr>
          <p:cNvPr id="48" name="Text 38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49" name="Text 3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five-stage data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refresh runs the same gated sequence — each stage is spot-checked before the next begins.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014057" cy="397764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81933" y="1517904"/>
            <a:ext cx="347472" cy="347472"/>
          </a:xfrm>
          <a:prstGeom prst="ellipse">
            <a:avLst/>
          </a:prstGeom>
          <a:solidFill>
            <a:srgbClr val="0F2942"/>
          </a:solidFill>
          <a:ln w="38100">
            <a:solidFill>
              <a:srgbClr val="F6F8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1933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99053" y="2203704"/>
            <a:ext cx="713232" cy="71323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933" y="238658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108960"/>
            <a:ext cx="1739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85800" y="3319272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3749040"/>
            <a:ext cx="1648297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site-specific scrapers pull postings; results merge + dedupe into one master CSV.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580985" y="3680460"/>
            <a:ext cx="219456" cy="0"/>
          </a:xfrm>
          <a:prstGeom prst="line">
            <a:avLst/>
          </a:prstGeom>
          <a:noFill/>
          <a:ln w="19050">
            <a:solidFill>
              <a:srgbClr val="C7D0D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818729" y="1691640"/>
            <a:ext cx="2014057" cy="397764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2022" y="1517904"/>
            <a:ext cx="347472" cy="347472"/>
          </a:xfrm>
          <a:prstGeom prst="ellipse">
            <a:avLst/>
          </a:prstGeom>
          <a:solidFill>
            <a:srgbClr val="0F2942"/>
          </a:solidFill>
          <a:ln w="38100">
            <a:solidFill>
              <a:srgbClr val="F6F8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2022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469142" y="2203704"/>
            <a:ext cx="713232" cy="7132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022" y="2386584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955889" y="3108960"/>
            <a:ext cx="1739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955889" y="3319272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001609" y="3749040"/>
            <a:ext cx="1648297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schema, fill gaps, filter to African / remote-eligible roles.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851075" y="3680460"/>
            <a:ext cx="219456" cy="0"/>
          </a:xfrm>
          <a:prstGeom prst="line">
            <a:avLst/>
          </a:prstGeom>
          <a:noFill/>
          <a:ln w="19050">
            <a:solidFill>
              <a:srgbClr val="C7D0D2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5088819" y="1691640"/>
            <a:ext cx="2014057" cy="397764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922112" y="1517904"/>
            <a:ext cx="347472" cy="347472"/>
          </a:xfrm>
          <a:prstGeom prst="ellipse">
            <a:avLst/>
          </a:prstGeom>
          <a:solidFill>
            <a:srgbClr val="0F2942"/>
          </a:solidFill>
          <a:ln w="38100">
            <a:solidFill>
              <a:srgbClr val="F6F8F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922112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739232" y="2203704"/>
            <a:ext cx="713232" cy="71323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112" y="2386584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225979" y="3108960"/>
            <a:ext cx="1739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5225979" y="3319272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5271699" y="3749040"/>
            <a:ext cx="1648297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countries &amp; dates, export to Parquet.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7121164" y="3680460"/>
            <a:ext cx="219456" cy="0"/>
          </a:xfrm>
          <a:prstGeom prst="line">
            <a:avLst/>
          </a:prstGeom>
          <a:noFill/>
          <a:ln w="19050">
            <a:solidFill>
              <a:srgbClr val="C7D0D2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7358908" y="1691640"/>
            <a:ext cx="2014057" cy="397764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192201" y="1517904"/>
            <a:ext cx="347472" cy="347472"/>
          </a:xfrm>
          <a:prstGeom prst="ellipse">
            <a:avLst/>
          </a:prstGeom>
          <a:solidFill>
            <a:srgbClr val="0F2942"/>
          </a:solidFill>
          <a:ln w="38100">
            <a:solidFill>
              <a:srgbClr val="F6F8F7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192201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8009321" y="2203704"/>
            <a:ext cx="713232" cy="7132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2201" y="2386584"/>
            <a:ext cx="347472" cy="34747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496068" y="3108960"/>
            <a:ext cx="1739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7496068" y="3319272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7541788" y="3749040"/>
            <a:ext cx="1648297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pulls skills, experience, education, certifications, seniority.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9391254" y="3680460"/>
            <a:ext cx="219456" cy="0"/>
          </a:xfrm>
          <a:prstGeom prst="line">
            <a:avLst/>
          </a:prstGeom>
          <a:noFill/>
          <a:ln w="19050">
            <a:solidFill>
              <a:srgbClr val="C7D0D2"/>
            </a:solidFill>
            <a:prstDash val="solid"/>
            <a:tailEnd type="triangle"/>
          </a:ln>
        </p:spPr>
      </p:sp>
      <p:sp>
        <p:nvSpPr>
          <p:cNvPr id="42" name="Shape 36"/>
          <p:cNvSpPr/>
          <p:nvPr/>
        </p:nvSpPr>
        <p:spPr>
          <a:xfrm>
            <a:off x="9628998" y="1691640"/>
            <a:ext cx="2014057" cy="397764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10462290" y="1517904"/>
            <a:ext cx="347472" cy="347472"/>
          </a:xfrm>
          <a:prstGeom prst="ellipse">
            <a:avLst/>
          </a:prstGeom>
          <a:solidFill>
            <a:srgbClr val="0F2942"/>
          </a:solidFill>
          <a:ln w="38100">
            <a:solidFill>
              <a:srgbClr val="F6F8F7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10462290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10279410" y="2203704"/>
            <a:ext cx="713232" cy="71323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2290" y="2386584"/>
            <a:ext cx="347472" cy="347472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9766158" y="3108960"/>
            <a:ext cx="1739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9766158" y="3319272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49" name="Text 42"/>
          <p:cNvSpPr/>
          <p:nvPr/>
        </p:nvSpPr>
        <p:spPr>
          <a:xfrm>
            <a:off x="9811878" y="3749040"/>
            <a:ext cx="1648297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Create things like Skill×Region, salary, and career-path aggregations.</a:t>
            </a:r>
            <a:endParaRPr lang="en-US" sz="1050" dirty="0"/>
          </a:p>
        </p:txBody>
      </p:sp>
      <p:sp>
        <p:nvSpPr>
          <p:cNvPr id="50" name="Text 43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5–9 (ML classification, BI exports, full-stack deployment, RAG assistant) are scaffolded and progressively coming online — see Roadmap.</a:t>
            </a:r>
            <a:endParaRPr lang="en-US" sz="1050" dirty="0"/>
          </a:p>
        </p:txBody>
      </p:sp>
      <p:sp>
        <p:nvSpPr>
          <p:cNvPr id="51" name="Text 4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C9DFF2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13,348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D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postings merged from all sources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7373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C9DFF2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39312" y="31089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D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sources: BrighterMonday, Fuzu, MyJobMag, Jobberman, Indeed, LinkedIn, RemoteOK &amp; more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2784" y="17373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C9DFF2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01384" y="31089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D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columns per record — title, company, description, country, work mode, salary…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34856" y="17373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C9DFF2"/>
          </a:solidFill>
          <a:ln w="1524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15" name="Text 13"/>
          <p:cNvSpPr/>
          <p:nvPr/>
        </p:nvSpPr>
        <p:spPr>
          <a:xfrm>
            <a:off x="9272016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10,379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363456" y="31089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D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deduplicated records after quality checks and geographic filtering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C9DFF2"/>
          </a:solidFill>
          <a:ln w="12700">
            <a:solidFill>
              <a:srgbClr val="A9CB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" y="5266944"/>
            <a:ext cx="658368" cy="6583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5431536"/>
            <a:ext cx="329184" cy="32918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91640" y="519379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 few clean records survive filtering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691640" y="55046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deliberately strict: it drops listings missing required fields, non-African / non-remote roles, and near-duplicate postings re-listed across boards — trading dataset size for trustworthy analytics.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text into structured signal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NLP layer reads every job description and pulls out the fields analytics and matching depend 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3911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Extraction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2148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skills from job descriptions using Batched keyword/regex matching across languages, frameworks, cloud platforms, databases, and AI tooling.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skill categories · 177 true positives in evaluation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3840480"/>
            <a:ext cx="640080" cy="6400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00507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Extraction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55448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pulls for years of experience, education level, certifications, and seniority band.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6868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seniority prediction &amp; the recommender's experience match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17220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Skill-Extractor F1 by category (gold set, n=100)</a:t>
            </a:r>
            <a:endParaRPr lang="en-US" sz="12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172200" y="2011680"/>
          <a:ext cx="54864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COMPONENTS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CV to a plan of 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786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3388" y="1819656"/>
            <a:ext cx="658368" cy="6583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980" y="19842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560320"/>
            <a:ext cx="2293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CV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2880360"/>
            <a:ext cx="223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uploads a .txt, .pdf, or .docx résumé.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3143936" y="2606040"/>
            <a:ext cx="219456" cy="0"/>
          </a:xfrm>
          <a:prstGeom prst="line">
            <a:avLst/>
          </a:prstGeom>
          <a:noFill/>
          <a:ln w="19050">
            <a:solidFill>
              <a:srgbClr val="C7D0D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90824" y="1554480"/>
            <a:ext cx="256786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5572" y="1819656"/>
            <a:ext cx="658368" cy="65836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164" y="19842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7984" y="2560320"/>
            <a:ext cx="2293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&amp; Normalize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55416" y="2880360"/>
            <a:ext cx="223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experience are extracted and compared against the jobs in our dataset.</a:t>
            </a:r>
            <a:endParaRPr lang="en-US" sz="970" dirty="0"/>
          </a:p>
        </p:txBody>
      </p:sp>
      <p:sp>
        <p:nvSpPr>
          <p:cNvPr id="16" name="Shape 12"/>
          <p:cNvSpPr/>
          <p:nvPr/>
        </p:nvSpPr>
        <p:spPr>
          <a:xfrm>
            <a:off x="5986120" y="2606040"/>
            <a:ext cx="219456" cy="0"/>
          </a:xfrm>
          <a:prstGeom prst="line">
            <a:avLst/>
          </a:prstGeom>
          <a:noFill/>
          <a:ln w="19050">
            <a:solidFill>
              <a:srgbClr val="C7D0D2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233008" y="1554480"/>
            <a:ext cx="256786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87756" y="1819656"/>
            <a:ext cx="658368" cy="6583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348" y="198424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70168" y="2560320"/>
            <a:ext cx="2293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Jobs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97600" y="2880360"/>
            <a:ext cx="223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scorer weighs skill coverage, experience, and location against every listing.</a:t>
            </a:r>
            <a:endParaRPr lang="en-US" sz="970" dirty="0"/>
          </a:p>
        </p:txBody>
      </p:sp>
      <p:sp>
        <p:nvSpPr>
          <p:cNvPr id="22" name="Shape 17"/>
          <p:cNvSpPr/>
          <p:nvPr/>
        </p:nvSpPr>
        <p:spPr>
          <a:xfrm>
            <a:off x="8828303" y="2606040"/>
            <a:ext cx="219456" cy="0"/>
          </a:xfrm>
          <a:prstGeom prst="line">
            <a:avLst/>
          </a:prstGeom>
          <a:noFill/>
          <a:ln w="19050">
            <a:solidFill>
              <a:srgbClr val="C7D0D2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9075191" y="1554480"/>
            <a:ext cx="256786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029939" y="1819656"/>
            <a:ext cx="658368" cy="65836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4531" y="198424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12351" y="2560320"/>
            <a:ext cx="2293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239783" y="2880360"/>
            <a:ext cx="223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jobs, ranked skill gaps, course links, and mock-interview prep are returned as JSON.</a:t>
            </a:r>
            <a:endParaRPr lang="en-US" sz="970" dirty="0"/>
          </a:p>
        </p:txBody>
      </p:sp>
      <p:sp>
        <p:nvSpPr>
          <p:cNvPr id="28" name="Shape 22"/>
          <p:cNvSpPr/>
          <p:nvPr/>
        </p:nvSpPr>
        <p:spPr>
          <a:xfrm>
            <a:off x="548640" y="39319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0F2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325112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00200" y="4187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Recommender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600200" y="4553712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deterministic, hybrid weighted scorer — not a black box. Ranks jobs on skill coverage, years of experience, and location fit, so every match score is explainable.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263640" y="39319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0F2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583680" y="4160520"/>
            <a:ext cx="640080" cy="6400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4325112"/>
            <a:ext cx="310896" cy="31089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315200" y="4187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Market Assistant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7315200" y="4553712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most relevant NLP-enriched postings by vector similarity, then answers natural-language market questions grounded in that retrieved evidence.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E2E9"/>
                </a:solidFill>
                <a:latin typeface="Calibri" pitchFamily="34" charset="0"/>
                <a:cs typeface="Calibri" pitchFamily="34" charset="-120"/>
              </a:rPr>
              <a:t> The goal is not just to show someone jobs, its to turn data into something they can use to make decisions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against a 100-item gold set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17320"/>
          <a:ext cx="67665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4173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0F2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1554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418320" y="160020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hand-labeled gold-standard examples anchor every metric on this slide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35240" y="292608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09560" y="3108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numbers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09560" y="347472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Extractor: </a:t>
            </a: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0.975 (P 0.952 / R 1.0) across 15 categories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Retrieval: </a:t>
            </a: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0.894 — the right document is almost always the first or second result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else: </a:t>
            </a: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or near-perfect on a modest, curated gold set — a bigger set is the honest next step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· BACKEND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FastAPI service tying it all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309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55648"/>
            <a:ext cx="1737360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06040" y="1755648"/>
            <a:ext cx="4114800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/api/auth/register, /login, /refresh, /me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385060"/>
            <a:ext cx="5852160" cy="0"/>
          </a:xfrm>
          <a:prstGeom prst="line">
            <a:avLst/>
          </a:prstGeom>
          <a:noFill/>
          <a:ln w="12700">
            <a:solidFill>
              <a:srgbClr val="ECEF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94788"/>
            <a:ext cx="1737360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Pipeline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06040" y="2494788"/>
            <a:ext cx="4114800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/api/cv/upload → /analyze → /status → /{id}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124200"/>
            <a:ext cx="5852160" cy="0"/>
          </a:xfrm>
          <a:prstGeom prst="line">
            <a:avLst/>
          </a:prstGeom>
          <a:noFill/>
          <a:ln w="12700">
            <a:solidFill>
              <a:srgbClr val="ECEF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33928"/>
            <a:ext cx="1737360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06040" y="3233928"/>
            <a:ext cx="4114800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/api/recommendations — courses &amp; interview prep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863340"/>
            <a:ext cx="5852160" cy="0"/>
          </a:xfrm>
          <a:prstGeom prst="line">
            <a:avLst/>
          </a:prstGeom>
          <a:noFill/>
          <a:ln w="12700">
            <a:solidFill>
              <a:srgbClr val="ECEF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73068"/>
            <a:ext cx="1737360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06040" y="3973068"/>
            <a:ext cx="4114800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/api/jobs, /jobs/{id}, /jobs/{id}/history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602480"/>
            <a:ext cx="5852160" cy="0"/>
          </a:xfrm>
          <a:prstGeom prst="line">
            <a:avLst/>
          </a:prstGeom>
          <a:noFill/>
          <a:ln w="12700">
            <a:solidFill>
              <a:srgbClr val="ECEF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12208"/>
            <a:ext cx="1737360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06040" y="4712208"/>
            <a:ext cx="4114800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/api/dashboard — cv score, skills, matches, insights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5341620"/>
            <a:ext cx="5852160" cy="0"/>
          </a:xfrm>
          <a:prstGeom prst="line">
            <a:avLst/>
          </a:prstGeom>
          <a:noFill/>
          <a:ln w="12700">
            <a:solidFill>
              <a:srgbClr val="ECEF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451348"/>
            <a:ext cx="1737360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Health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606040" y="5451348"/>
            <a:ext cx="4114800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/health, /api/models — live registry status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78040" y="1645920"/>
            <a:ext cx="4434840" cy="2103120"/>
          </a:xfrm>
          <a:prstGeom prst="roundRect">
            <a:avLst>
              <a:gd name="adj" fmla="val 4348"/>
            </a:avLst>
          </a:prstGeom>
          <a:solidFill>
            <a:srgbClr val="0F2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182880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2" y="1993392"/>
            <a:ext cx="310896" cy="31089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183880" y="1874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by design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183880" y="2212848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D8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 run CV analysis, job ingestion, rather than making the user wait for everything to happen at once, backed by PostgreSQL (SQLite in tests).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7178040" y="3931920"/>
            <a:ext cx="44348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52360" y="4114800"/>
            <a:ext cx="640080" cy="6400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4279392"/>
            <a:ext cx="310896" cy="31089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183880" y="4160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end to end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8183880" y="4498848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</a:t>
            </a:r>
            <a:r>
              <a:rPr lang="en-US" sz="108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suite covers auth, CV analysis, jobs, recommendations, and salary parsing — each run against a fresh SQLite database.</a:t>
            </a:r>
            <a:endParaRPr lang="en-US" sz="1080" dirty="0"/>
          </a:p>
        </p:txBody>
      </p:sp>
      <p:sp>
        <p:nvSpPr>
          <p:cNvPr id="33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· FRONTEND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React app, four connected screens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state store and one data-access layer replace what used to be four pages with their own hardcoded arrays.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2034540"/>
            <a:ext cx="777240" cy="7772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2235708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474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7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score, skill snapshot, and market insights in one aggregated view.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3410712" y="17373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25112" y="2034540"/>
            <a:ext cx="777240" cy="7772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235708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93592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Analyzer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39312" y="3474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7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résumé to unlock Overview, Recommended Jobs, Skill Gaps, and Career Paths tabs.</a:t>
            </a:r>
            <a:endParaRPr lang="en-US" sz="1070" dirty="0"/>
          </a:p>
        </p:txBody>
      </p:sp>
      <p:sp>
        <p:nvSpPr>
          <p:cNvPr id="16" name="Shape 12"/>
          <p:cNvSpPr/>
          <p:nvPr/>
        </p:nvSpPr>
        <p:spPr>
          <a:xfrm>
            <a:off x="6272784" y="17373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87184" y="2034540"/>
            <a:ext cx="777240" cy="7772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223570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55664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Jobs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501384" y="3474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7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gets a real, explainable match score against the analyzed CV.</a:t>
            </a:r>
            <a:endParaRPr lang="en-US" sz="1070" dirty="0"/>
          </a:p>
        </p:txBody>
      </p:sp>
      <p:sp>
        <p:nvSpPr>
          <p:cNvPr id="21" name="Shape 16"/>
          <p:cNvSpPr/>
          <p:nvPr/>
        </p:nvSpPr>
        <p:spPr>
          <a:xfrm>
            <a:off x="9107424" y="171450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  <a:effectLst>
            <a:outerShdw blurRad="76200" dist="25400" dir="5400000" algn="bl" rotWithShape="0">
              <a:srgbClr val="1F2A33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49256" y="2034540"/>
            <a:ext cx="777240" cy="7772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0424" y="2235708"/>
            <a:ext cx="374904" cy="3749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17736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&amp; Skills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363456" y="3474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7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Skill-priority scoring computed from demand, growth, and difficulty — never invented.</a:t>
            </a:r>
            <a:endParaRPr lang="en-US" sz="1070" dirty="0"/>
          </a:p>
        </p:txBody>
      </p:sp>
      <p:sp>
        <p:nvSpPr>
          <p:cNvPr id="26" name="Text 20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8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"Opportunities you could unlock" re-scores every job as if a missing skill were learned, and counts how many jobs cross from a weak match to a real one — only shown when that count is greater than zero.</a:t>
            </a:r>
            <a:endParaRPr lang="en-US" sz="1080" dirty="0"/>
          </a:p>
        </p:txBody>
      </p:sp>
      <p:sp>
        <p:nvSpPr>
          <p:cNvPr id="27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limitations, and the roadmap ahead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938528"/>
            <a:ext cx="402336" cy="402336"/>
          </a:xfrm>
          <a:prstGeom prst="ellipse">
            <a:avLst/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48256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83794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run_collection.py orchestrator is retired — scripts/run_scrapers.py is the supported path today.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2807208"/>
            <a:ext cx="402336" cy="402336"/>
          </a:xfrm>
          <a:prstGeom prst="ellipse">
            <a:avLst/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1693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70662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config files (config.py, scraping_config.py) predate the reorg and haven't been unified.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8952" y="3675888"/>
            <a:ext cx="402336" cy="402336"/>
          </a:xfrm>
          <a:prstGeom prst="ellipse">
            <a:avLst/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85616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57530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3–4 are import-only — no run_stage3_*.py / run_stage4_*.py CLI wrapper yet.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43891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8952" y="4544568"/>
            <a:ext cx="402336" cy="402336"/>
          </a:xfrm>
          <a:prstGeom prst="ellipse">
            <a:avLst/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654296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444398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gold set (n=100) is solid but modest — a larger set would tighten confidence.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263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(STAGES 5–9)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263640" y="17830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73952" y="1938528"/>
            <a:ext cx="402336" cy="402336"/>
          </a:xfrm>
          <a:prstGeom prst="ellipse">
            <a:avLst/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048256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95160" y="183794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  </a:t>
            </a: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trained classifiers beyond tech-category into the recommender pipeline.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263640" y="265176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473952" y="2807208"/>
            <a:ext cx="402336" cy="402336"/>
          </a:xfrm>
          <a:prstGeom prst="ellipse">
            <a:avLst/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916936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95160" y="270662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Visualization Exports  </a:t>
            </a: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Skill×Region and salary aggregates as ready-made dashboards.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263640" y="352044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473952" y="3675888"/>
            <a:ext cx="402336" cy="402336"/>
          </a:xfrm>
          <a:prstGeom prst="ellipse">
            <a:avLst/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785616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95160" y="357530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 </a:t>
            </a: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the full stack with Docker Compose for one-command bring-up.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6263640" y="43891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6473952" y="4544568"/>
            <a:ext cx="402336" cy="402336"/>
          </a:xfrm>
          <a:prstGeom prst="ellipse">
            <a:avLst/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654296"/>
            <a:ext cx="182880" cy="1828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95160" y="444398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Assistant, expanded  </a:t>
            </a: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retrieval coverage and add conversational follow-ups grounded in fresh data.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9DFF2"/>
          </a:solidFill>
          <a:ln w="12700">
            <a:solidFill>
              <a:srgbClr val="C9D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2697480"/>
            <a:ext cx="1463040" cy="14630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304495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26060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4709160" y="3520440"/>
            <a:ext cx="1554480" cy="54864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63440" y="3703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63440" y="6126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 — African Tech Job Market Intelligence Platform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JobPulse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1740</Words>
  <Application>Microsoft Office PowerPoint</Application>
  <PresentationFormat>Widescreen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Celine kalekye</cp:lastModifiedBy>
  <cp:revision>3</cp:revision>
  <dcterms:created xsi:type="dcterms:W3CDTF">2026-09-08T09:45:04Z</dcterms:created>
  <dcterms:modified xsi:type="dcterms:W3CDTF">2026-09-09T07:56:01Z</dcterms:modified>
</cp:coreProperties>
</file>